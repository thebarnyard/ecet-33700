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26" r:id="rId2"/>
    <p:sldId id="340" r:id="rId3"/>
    <p:sldId id="341" r:id="rId4"/>
    <p:sldId id="342" r:id="rId5"/>
    <p:sldId id="343" r:id="rId6"/>
    <p:sldId id="344" r:id="rId7"/>
    <p:sldId id="345" r:id="rId8"/>
    <p:sldId id="327" r:id="rId9"/>
    <p:sldId id="346" r:id="rId10"/>
    <p:sldId id="347" r:id="rId11"/>
    <p:sldId id="348" r:id="rId12"/>
    <p:sldId id="349" r:id="rId13"/>
    <p:sldId id="351" r:id="rId14"/>
    <p:sldId id="350" r:id="rId15"/>
    <p:sldId id="352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</p:sldIdLst>
  <p:sldSz cx="9144000" cy="6858000" type="screen4x3"/>
  <p:notesSz cx="7099300" cy="10234613"/>
  <p:custDataLst>
    <p:tags r:id="rId2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folHlink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folHlink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folHlink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folHlink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folHlink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folHlink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folHlink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folHlink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folHlink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ECECE"/>
    <a:srgbClr val="FC012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61" d="100"/>
          <a:sy n="61" d="100"/>
        </p:scale>
        <p:origin x="78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>
              <a:defRPr sz="1200" i="1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algn="r">
              <a:defRPr sz="1200" i="1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>
              <a:defRPr sz="1200" i="1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algn="r">
              <a:defRPr sz="1200" i="1">
                <a:latin typeface="Arial" pitchFamily="34" charset="0"/>
              </a:defRPr>
            </a:lvl1pPr>
          </a:lstStyle>
          <a:p>
            <a:pPr>
              <a:defRPr/>
            </a:pPr>
            <a:fld id="{4B3E6E9D-BAC0-4E8C-9BA1-854F4A77D3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13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algn="r">
              <a:defRPr sz="12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algn="r">
              <a:defRPr sz="12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E1000B3-BE59-4B11-AB64-BF33DECCF3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1442"/>
            <a:ext cx="5206153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07" tIns="48654" rIns="97307" bIns="486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6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3300" y="774700"/>
            <a:ext cx="5092700" cy="3821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580116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642E-6598-44BF-A579-6A4CDBF53B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6A3EA-31D1-4220-8A4F-3F9DF0B2B1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43814-C9D2-474C-A3B3-1FC6B4B619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6764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764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6F55E-BB86-433E-A79B-26EF3301E4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C50A8-CFA2-4FA0-B798-E1520E839E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  Purdue University                                  EET 257                         Power &amp; RF Electronics</a:t>
            </a:r>
            <a:r>
              <a:rPr lang="en-US" sz="1400" dirty="0">
                <a:latin typeface="+mn-lt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DACE6-9B1D-4A5D-A07C-7C363ACC23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EA582-82B4-4B25-A14C-05C8ABB0D3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A45C5-7D86-493A-80C6-358A7B850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B000F-3BD1-4C25-B788-34581D0AE3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47588-AEAD-4ABC-87D5-97BD17C259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04800"/>
            <a:ext cx="20955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1341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D4D8-755B-4DF9-97BC-686A0FD88D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77343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6764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16764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3B942-A84B-48B5-995E-7F8B768F28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77343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90600" y="1676400"/>
            <a:ext cx="7772400" cy="4191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389-1487-41EC-B2DE-5044430854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8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  Purdue University                                  EET 257                         Power &amp; RF Electronics</a:t>
            </a:r>
            <a:r>
              <a:rPr lang="en-US" sz="1400"/>
              <a:t> 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5B369F4-A046-4D2C-8459-365C6B1963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0" y="1371600"/>
            <a:ext cx="8026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77343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676400"/>
            <a:ext cx="7772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7391400" y="365125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defRPr/>
            </a:pPr>
            <a:fld id="{1A56CC0C-2655-4C93-BC33-175C0AA6D36C}" type="slidenum">
              <a:rPr lang="en-US" sz="240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sz="2400">
              <a:solidFill>
                <a:schemeClr val="tx1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Monotype Sorts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u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734300" cy="1066800"/>
          </a:xfrm>
        </p:spPr>
        <p:txBody>
          <a:bodyPr/>
          <a:lstStyle/>
          <a:p>
            <a:r>
              <a:rPr lang="en-US" sz="4000"/>
              <a:t>Notation and Organization are</a:t>
            </a:r>
            <a:br>
              <a:rPr lang="en-US" sz="4000"/>
            </a:br>
            <a:r>
              <a:rPr lang="en-US" sz="4000" i="1"/>
              <a:t>Everything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E1214-D904-476D-B1CA-213DF4234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00" y="1571624"/>
            <a:ext cx="446451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05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458200" cy="1066800"/>
          </a:xfrm>
        </p:spPr>
        <p:txBody>
          <a:bodyPr/>
          <a:lstStyle/>
          <a:p>
            <a:r>
              <a:rPr lang="en-US" sz="4000" dirty="0"/>
              <a:t>Start as far away from Ein as possible</a:t>
            </a:r>
            <a:endParaRPr lang="en-US" sz="4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4CAE7D-BA4C-4DF8-AD4F-45ED57AA9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69" y="1752600"/>
            <a:ext cx="3763274" cy="228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079C1C-F0DA-4FE6-B7D8-804E0734652E}"/>
              </a:ext>
            </a:extLst>
          </p:cNvPr>
          <p:cNvSpPr txBox="1"/>
          <p:nvPr/>
        </p:nvSpPr>
        <p:spPr>
          <a:xfrm>
            <a:off x="381000" y="4800600"/>
            <a:ext cx="1178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Z34= </a:t>
            </a:r>
          </a:p>
        </p:txBody>
      </p:sp>
    </p:spTree>
    <p:extLst>
      <p:ext uri="{BB962C8B-B14F-4D97-AF65-F5344CB8AC3E}">
        <p14:creationId xmlns:p14="http://schemas.microsoft.com/office/powerpoint/2010/main" val="372951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34400" cy="1066800"/>
          </a:xfrm>
        </p:spPr>
        <p:txBody>
          <a:bodyPr/>
          <a:lstStyle/>
          <a:p>
            <a:r>
              <a:rPr lang="en-US" sz="4000" dirty="0"/>
              <a:t>Keep combining, drawing, documenting</a:t>
            </a:r>
            <a:endParaRPr lang="en-US" sz="4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79C1C-F0DA-4FE6-B7D8-804E0734652E}"/>
              </a:ext>
            </a:extLst>
          </p:cNvPr>
          <p:cNvSpPr txBox="1"/>
          <p:nvPr/>
        </p:nvSpPr>
        <p:spPr>
          <a:xfrm>
            <a:off x="381000" y="5148335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Z1-4=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F055B-C59C-4FF4-9E20-5C330829F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35436"/>
            <a:ext cx="2971800" cy="27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0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734300" cy="1066800"/>
          </a:xfrm>
        </p:spPr>
        <p:txBody>
          <a:bodyPr/>
          <a:lstStyle/>
          <a:p>
            <a:r>
              <a:rPr lang="en-US" sz="4000" dirty="0"/>
              <a:t>Start working back with Ohm’s law, KVL, and KCL</a:t>
            </a:r>
            <a:endParaRPr lang="en-US" sz="4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79C1C-F0DA-4FE6-B7D8-804E0734652E}"/>
              </a:ext>
            </a:extLst>
          </p:cNvPr>
          <p:cNvSpPr txBox="1"/>
          <p:nvPr/>
        </p:nvSpPr>
        <p:spPr>
          <a:xfrm>
            <a:off x="533400" y="5178179"/>
            <a:ext cx="1018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1-4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B4C76F-6E04-4E2D-9C7F-99EFFF9BC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82780"/>
            <a:ext cx="3124200" cy="320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9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79C1C-F0DA-4FE6-B7D8-804E0734652E}"/>
              </a:ext>
            </a:extLst>
          </p:cNvPr>
          <p:cNvSpPr txBox="1"/>
          <p:nvPr/>
        </p:nvSpPr>
        <p:spPr>
          <a:xfrm>
            <a:off x="305055" y="4393050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1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7F5A1-37C9-4AF5-87EB-DB335A525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0"/>
            <a:ext cx="3926394" cy="2425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FD7C7E-A2C6-4694-97E5-D573BE50F2C0}"/>
              </a:ext>
            </a:extLst>
          </p:cNvPr>
          <p:cNvSpPr txBox="1"/>
          <p:nvPr/>
        </p:nvSpPr>
        <p:spPr>
          <a:xfrm>
            <a:off x="305054" y="4977825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2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089D7-F327-4CAD-B080-9559C8E93197}"/>
              </a:ext>
            </a:extLst>
          </p:cNvPr>
          <p:cNvSpPr txBox="1"/>
          <p:nvPr/>
        </p:nvSpPr>
        <p:spPr>
          <a:xfrm>
            <a:off x="304800" y="5562600"/>
            <a:ext cx="9268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34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506F3-EFD3-4EBF-9781-2BF492B9729E}"/>
              </a:ext>
            </a:extLst>
          </p:cNvPr>
          <p:cNvSpPr txBox="1"/>
          <p:nvPr/>
        </p:nvSpPr>
        <p:spPr>
          <a:xfrm>
            <a:off x="3072639" y="4490045"/>
            <a:ext cx="950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1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A9B50-0AF5-4091-B510-84A38B025A79}"/>
              </a:ext>
            </a:extLst>
          </p:cNvPr>
          <p:cNvSpPr txBox="1"/>
          <p:nvPr/>
        </p:nvSpPr>
        <p:spPr>
          <a:xfrm>
            <a:off x="3072638" y="5074820"/>
            <a:ext cx="950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2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72CDD-FB87-4C85-9960-00D70C6D1AF6}"/>
              </a:ext>
            </a:extLst>
          </p:cNvPr>
          <p:cNvSpPr txBox="1"/>
          <p:nvPr/>
        </p:nvSpPr>
        <p:spPr>
          <a:xfrm>
            <a:off x="3072384" y="5659595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34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67FB24D-9310-407C-8B25-849C70A4F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8513"/>
            <a:ext cx="77343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4000" kern="0" dirty="0"/>
              <a:t>Start working back with Ohm’s law, KVL, and KCL</a:t>
            </a:r>
            <a:endParaRPr lang="en-US" sz="4000" i="1" kern="0" dirty="0"/>
          </a:p>
        </p:txBody>
      </p:sp>
    </p:spTree>
    <p:extLst>
      <p:ext uri="{BB962C8B-B14F-4D97-AF65-F5344CB8AC3E}">
        <p14:creationId xmlns:p14="http://schemas.microsoft.com/office/powerpoint/2010/main" val="114519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734300" cy="1066800"/>
          </a:xfrm>
        </p:spPr>
        <p:txBody>
          <a:bodyPr/>
          <a:lstStyle/>
          <a:p>
            <a:r>
              <a:rPr lang="en-US" sz="4000" dirty="0"/>
              <a:t>Notation and Organization are</a:t>
            </a:r>
            <a:br>
              <a:rPr lang="en-US" sz="4000" dirty="0"/>
            </a:br>
            <a:r>
              <a:rPr lang="en-US" sz="4000" i="1" dirty="0"/>
              <a:t>Everything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506F3-EFD3-4EBF-9781-2BF492B9729E}"/>
              </a:ext>
            </a:extLst>
          </p:cNvPr>
          <p:cNvSpPr txBox="1"/>
          <p:nvPr/>
        </p:nvSpPr>
        <p:spPr>
          <a:xfrm>
            <a:off x="225156" y="4201687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34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A9B50-0AF5-4091-B510-84A38B025A79}"/>
              </a:ext>
            </a:extLst>
          </p:cNvPr>
          <p:cNvSpPr txBox="1"/>
          <p:nvPr/>
        </p:nvSpPr>
        <p:spPr>
          <a:xfrm>
            <a:off x="225155" y="4786462"/>
            <a:ext cx="950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3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72CDD-FB87-4C85-9960-00D70C6D1AF6}"/>
              </a:ext>
            </a:extLst>
          </p:cNvPr>
          <p:cNvSpPr txBox="1"/>
          <p:nvPr/>
        </p:nvSpPr>
        <p:spPr>
          <a:xfrm>
            <a:off x="224901" y="5371237"/>
            <a:ext cx="950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A08AF2-FEF2-4C7D-8682-EE8F9FF8F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98300"/>
            <a:ext cx="4470700" cy="2148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55C413-5FC8-4980-9C14-43607B8ADCAD}"/>
              </a:ext>
            </a:extLst>
          </p:cNvPr>
          <p:cNvSpPr txBox="1"/>
          <p:nvPr/>
        </p:nvSpPr>
        <p:spPr>
          <a:xfrm>
            <a:off x="3200400" y="4047418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3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0FF86B-A089-4579-8999-2CF8FDE9EA55}"/>
              </a:ext>
            </a:extLst>
          </p:cNvPr>
          <p:cNvSpPr txBox="1"/>
          <p:nvPr/>
        </p:nvSpPr>
        <p:spPr>
          <a:xfrm>
            <a:off x="3200399" y="4632193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5E64D-297D-493A-A6D1-9FEC36050092}"/>
              </a:ext>
            </a:extLst>
          </p:cNvPr>
          <p:cNvSpPr txBox="1"/>
          <p:nvPr/>
        </p:nvSpPr>
        <p:spPr>
          <a:xfrm>
            <a:off x="3200145" y="5216968"/>
            <a:ext cx="21539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34</a:t>
            </a:r>
            <a:r>
              <a:rPr lang="en-US" sz="3200" dirty="0">
                <a:solidFill>
                  <a:schemeClr val="bg1"/>
                </a:solidFill>
              </a:rPr>
              <a:t>=</a:t>
            </a:r>
          </a:p>
          <a:p>
            <a:r>
              <a:rPr lang="en-US" sz="3200" dirty="0">
                <a:solidFill>
                  <a:schemeClr val="bg1"/>
                </a:solidFill>
              </a:rPr>
              <a:t>KCL check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799F0-D290-4F72-BB84-F30E51EBD625}"/>
              </a:ext>
            </a:extLst>
          </p:cNvPr>
          <p:cNvSpPr/>
          <p:nvPr/>
        </p:nvSpPr>
        <p:spPr>
          <a:xfrm>
            <a:off x="231559" y="5956012"/>
            <a:ext cx="19250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KVL check </a:t>
            </a:r>
          </a:p>
        </p:txBody>
      </p:sp>
    </p:spTree>
    <p:extLst>
      <p:ext uri="{BB962C8B-B14F-4D97-AF65-F5344CB8AC3E}">
        <p14:creationId xmlns:p14="http://schemas.microsoft.com/office/powerpoint/2010/main" val="957906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709782"/>
            <a:ext cx="7734300" cy="1066800"/>
          </a:xfrm>
        </p:spPr>
        <p:txBody>
          <a:bodyPr/>
          <a:lstStyle/>
          <a:p>
            <a:r>
              <a:rPr lang="en-US" sz="3200" i="1" dirty="0"/>
              <a:t>Finally</a:t>
            </a:r>
            <a:r>
              <a:rPr lang="en-US" sz="3200" dirty="0"/>
              <a:t>, get your calculator out.</a:t>
            </a:r>
            <a:br>
              <a:rPr lang="en-US" sz="3200" dirty="0"/>
            </a:br>
            <a:r>
              <a:rPr lang="en-US" sz="3200" dirty="0"/>
              <a:t>Go back thru the plan and put the numbers to the right.</a:t>
            </a:r>
            <a:endParaRPr lang="en-US" sz="32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506F3-EFD3-4EBF-9781-2BF492B9729E}"/>
              </a:ext>
            </a:extLst>
          </p:cNvPr>
          <p:cNvSpPr txBox="1"/>
          <p:nvPr/>
        </p:nvSpPr>
        <p:spPr>
          <a:xfrm>
            <a:off x="225156" y="4201687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34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A9B50-0AF5-4091-B510-84A38B025A79}"/>
              </a:ext>
            </a:extLst>
          </p:cNvPr>
          <p:cNvSpPr txBox="1"/>
          <p:nvPr/>
        </p:nvSpPr>
        <p:spPr>
          <a:xfrm>
            <a:off x="225155" y="4786462"/>
            <a:ext cx="950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3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72CDD-FB87-4C85-9960-00D70C6D1AF6}"/>
              </a:ext>
            </a:extLst>
          </p:cNvPr>
          <p:cNvSpPr txBox="1"/>
          <p:nvPr/>
        </p:nvSpPr>
        <p:spPr>
          <a:xfrm>
            <a:off x="224901" y="5371237"/>
            <a:ext cx="950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A08AF2-FEF2-4C7D-8682-EE8F9FF8F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98300"/>
            <a:ext cx="4470700" cy="2148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55C413-5FC8-4980-9C14-43607B8ADCAD}"/>
              </a:ext>
            </a:extLst>
          </p:cNvPr>
          <p:cNvSpPr txBox="1"/>
          <p:nvPr/>
        </p:nvSpPr>
        <p:spPr>
          <a:xfrm>
            <a:off x="3200400" y="4047418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3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0FF86B-A089-4579-8999-2CF8FDE9EA55}"/>
              </a:ext>
            </a:extLst>
          </p:cNvPr>
          <p:cNvSpPr txBox="1"/>
          <p:nvPr/>
        </p:nvSpPr>
        <p:spPr>
          <a:xfrm>
            <a:off x="3200399" y="4632193"/>
            <a:ext cx="790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5E64D-297D-493A-A6D1-9FEC36050092}"/>
              </a:ext>
            </a:extLst>
          </p:cNvPr>
          <p:cNvSpPr txBox="1"/>
          <p:nvPr/>
        </p:nvSpPr>
        <p:spPr>
          <a:xfrm>
            <a:off x="3200145" y="5216968"/>
            <a:ext cx="12458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34</a:t>
            </a:r>
            <a:r>
              <a:rPr lang="en-US" sz="3200" dirty="0">
                <a:solidFill>
                  <a:schemeClr val="bg1"/>
                </a:solidFill>
              </a:rPr>
              <a:t>=</a:t>
            </a:r>
          </a:p>
          <a:p>
            <a:r>
              <a:rPr lang="en-US" sz="3200" dirty="0">
                <a:solidFill>
                  <a:schemeClr val="bg1"/>
                </a:solidFill>
              </a:rPr>
              <a:t>check </a:t>
            </a:r>
          </a:p>
        </p:txBody>
      </p:sp>
    </p:spTree>
    <p:extLst>
      <p:ext uri="{BB962C8B-B14F-4D97-AF65-F5344CB8AC3E}">
        <p14:creationId xmlns:p14="http://schemas.microsoft.com/office/powerpoint/2010/main" val="639609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– I</a:t>
            </a:r>
            <a:r>
              <a:rPr lang="en-US" baseline="-25000" dirty="0"/>
              <a:t>Z4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0E3EE-71A1-44ED-8586-5FFB47BB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600200"/>
            <a:ext cx="4385733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92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– I</a:t>
            </a:r>
            <a:r>
              <a:rPr lang="en-US" baseline="-25000" dirty="0"/>
              <a:t>Z4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0E3EE-71A1-44ED-8586-5FFB47BB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600200"/>
            <a:ext cx="4385733" cy="2209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3BCACF-269F-4A4C-BCB0-BBC15E103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88" y="4359274"/>
            <a:ext cx="3724531" cy="188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67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– I</a:t>
            </a:r>
            <a:r>
              <a:rPr lang="en-US" baseline="-25000" dirty="0"/>
              <a:t>Z4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3BCACF-269F-4A4C-BCB0-BBC15E10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39875"/>
            <a:ext cx="4475697" cy="2270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7B309A-9B6A-438E-9F86-7EDD21E83696}"/>
              </a:ext>
            </a:extLst>
          </p:cNvPr>
          <p:cNvSpPr txBox="1"/>
          <p:nvPr/>
        </p:nvSpPr>
        <p:spPr>
          <a:xfrm>
            <a:off x="381000" y="4343400"/>
            <a:ext cx="1040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Z</a:t>
            </a:r>
            <a:r>
              <a:rPr lang="en-US" sz="3200" baseline="-25000" dirty="0">
                <a:solidFill>
                  <a:schemeClr val="bg1"/>
                </a:solidFill>
              </a:rPr>
              <a:t>34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016570-C8AA-40A5-A687-9FC441CFDFB9}"/>
              </a:ext>
            </a:extLst>
          </p:cNvPr>
          <p:cNvSpPr txBox="1"/>
          <p:nvPr/>
        </p:nvSpPr>
        <p:spPr>
          <a:xfrm>
            <a:off x="381000" y="5318125"/>
            <a:ext cx="1040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Z</a:t>
            </a:r>
            <a:r>
              <a:rPr lang="en-US" sz="3200" baseline="-25000" dirty="0">
                <a:solidFill>
                  <a:schemeClr val="bg1"/>
                </a:solidFill>
              </a:rPr>
              <a:t>67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</p:spTree>
    <p:extLst>
      <p:ext uri="{BB962C8B-B14F-4D97-AF65-F5344CB8AC3E}">
        <p14:creationId xmlns:p14="http://schemas.microsoft.com/office/powerpoint/2010/main" val="3695679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– I</a:t>
            </a:r>
            <a:r>
              <a:rPr lang="en-US" baseline="-25000" dirty="0"/>
              <a:t>Z4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B309A-9B6A-438E-9F86-7EDD21E83696}"/>
              </a:ext>
            </a:extLst>
          </p:cNvPr>
          <p:cNvSpPr txBox="1"/>
          <p:nvPr/>
        </p:nvSpPr>
        <p:spPr>
          <a:xfrm>
            <a:off x="381000" y="4343400"/>
            <a:ext cx="1040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Z</a:t>
            </a:r>
            <a:r>
              <a:rPr lang="en-US" sz="3200" baseline="-25000" dirty="0">
                <a:solidFill>
                  <a:schemeClr val="bg1"/>
                </a:solidFill>
              </a:rPr>
              <a:t>37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1AEC2-096D-4356-B344-5A57C4AB5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866900"/>
            <a:ext cx="4058397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9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– I</a:t>
            </a:r>
            <a:r>
              <a:rPr lang="en-US" baseline="-25000" dirty="0"/>
              <a:t>Z4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B309A-9B6A-438E-9F86-7EDD21E83696}"/>
              </a:ext>
            </a:extLst>
          </p:cNvPr>
          <p:cNvSpPr txBox="1"/>
          <p:nvPr/>
        </p:nvSpPr>
        <p:spPr>
          <a:xfrm>
            <a:off x="381000" y="4343400"/>
            <a:ext cx="1040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Z</a:t>
            </a:r>
            <a:r>
              <a:rPr lang="en-US" sz="3200" baseline="-25000" dirty="0">
                <a:solidFill>
                  <a:schemeClr val="bg1"/>
                </a:solidFill>
              </a:rPr>
              <a:t>27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996B3A-2EF5-4A8A-B31A-79E440EE9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02" y="1830650"/>
            <a:ext cx="2144697" cy="22669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856E49-0277-45C7-BBA3-B38B08575282}"/>
              </a:ext>
            </a:extLst>
          </p:cNvPr>
          <p:cNvSpPr/>
          <p:nvPr/>
        </p:nvSpPr>
        <p:spPr>
          <a:xfrm>
            <a:off x="381000" y="4928175"/>
            <a:ext cx="926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27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8A59A-380D-4023-A67E-EC73C9F15A1E}"/>
              </a:ext>
            </a:extLst>
          </p:cNvPr>
          <p:cNvSpPr/>
          <p:nvPr/>
        </p:nvSpPr>
        <p:spPr>
          <a:xfrm>
            <a:off x="381000" y="5696916"/>
            <a:ext cx="10871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27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</p:spTree>
    <p:extLst>
      <p:ext uri="{BB962C8B-B14F-4D97-AF65-F5344CB8AC3E}">
        <p14:creationId xmlns:p14="http://schemas.microsoft.com/office/powerpoint/2010/main" val="2703034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– I</a:t>
            </a:r>
            <a:r>
              <a:rPr lang="en-US" baseline="-25000" dirty="0"/>
              <a:t>Z4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B309A-9B6A-438E-9F86-7EDD21E83696}"/>
              </a:ext>
            </a:extLst>
          </p:cNvPr>
          <p:cNvSpPr txBox="1"/>
          <p:nvPr/>
        </p:nvSpPr>
        <p:spPr>
          <a:xfrm>
            <a:off x="381000" y="4343400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37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56E49-0277-45C7-BBA3-B38B08575282}"/>
              </a:ext>
            </a:extLst>
          </p:cNvPr>
          <p:cNvSpPr/>
          <p:nvPr/>
        </p:nvSpPr>
        <p:spPr>
          <a:xfrm>
            <a:off x="391357" y="5266843"/>
            <a:ext cx="926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37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7A4330-D97A-4BCC-93EE-780CF5D61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591157"/>
            <a:ext cx="4705953" cy="198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73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– I</a:t>
            </a:r>
            <a:r>
              <a:rPr lang="en-US" baseline="-25000" dirty="0"/>
              <a:t>Z4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B309A-9B6A-438E-9F86-7EDD21E83696}"/>
              </a:ext>
            </a:extLst>
          </p:cNvPr>
          <p:cNvSpPr txBox="1"/>
          <p:nvPr/>
        </p:nvSpPr>
        <p:spPr>
          <a:xfrm>
            <a:off x="239194" y="5029200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34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56E49-0277-45C7-BBA3-B38B08575282}"/>
              </a:ext>
            </a:extLst>
          </p:cNvPr>
          <p:cNvSpPr/>
          <p:nvPr/>
        </p:nvSpPr>
        <p:spPr>
          <a:xfrm>
            <a:off x="378040" y="3873541"/>
            <a:ext cx="926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34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533B91-9B72-4E5E-BAA8-33A113B3D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40" y="1620452"/>
            <a:ext cx="4433265" cy="203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– I</a:t>
            </a:r>
            <a:r>
              <a:rPr lang="en-US" baseline="-25000" dirty="0"/>
              <a:t>Z4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B309A-9B6A-438E-9F86-7EDD21E83696}"/>
              </a:ext>
            </a:extLst>
          </p:cNvPr>
          <p:cNvSpPr txBox="1"/>
          <p:nvPr/>
        </p:nvSpPr>
        <p:spPr>
          <a:xfrm>
            <a:off x="328962" y="3733800"/>
            <a:ext cx="950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</a:t>
            </a:r>
            <a:r>
              <a:rPr lang="en-US" sz="3200" baseline="-25000" dirty="0">
                <a:solidFill>
                  <a:schemeClr val="bg1"/>
                </a:solidFill>
              </a:rPr>
              <a:t>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56E49-0277-45C7-BBA3-B38B08575282}"/>
              </a:ext>
            </a:extLst>
          </p:cNvPr>
          <p:cNvSpPr/>
          <p:nvPr/>
        </p:nvSpPr>
        <p:spPr>
          <a:xfrm>
            <a:off x="409113" y="4615474"/>
            <a:ext cx="7906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</a:t>
            </a:r>
            <a:r>
              <a:rPr lang="en-US" sz="3200" baseline="-25000" dirty="0">
                <a:solidFill>
                  <a:schemeClr val="bg1"/>
                </a:solidFill>
              </a:rPr>
              <a:t>4</a:t>
            </a:r>
            <a:r>
              <a:rPr lang="en-US" sz="3200" dirty="0">
                <a:solidFill>
                  <a:schemeClr val="bg1"/>
                </a:solidFill>
              </a:rPr>
              <a:t>=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D33F78-3B18-4CD2-8307-72CF2D94D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94" y="1262674"/>
            <a:ext cx="4753148" cy="23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21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E220D7-EAB2-403B-9EBA-F34F32202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BF36BC-55A1-45E7-955D-AD8EA1521EC6}"/>
              </a:ext>
            </a:extLst>
          </p:cNvPr>
          <p:cNvSpPr/>
          <p:nvPr/>
        </p:nvSpPr>
        <p:spPr bwMode="auto">
          <a:xfrm>
            <a:off x="239194" y="1262674"/>
            <a:ext cx="4753148" cy="2394926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BCA57D-9AAE-4D3D-9EE9-1D00E9597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94" y="1262674"/>
            <a:ext cx="4753148" cy="2394926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811775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 – calculate all V and 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9F256-0F9F-4A98-B2D7-24153E6B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9" y="1524000"/>
            <a:ext cx="3105149" cy="232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75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 – calculate all V and 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9F256-0F9F-4A98-B2D7-24153E6B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9" y="1524000"/>
            <a:ext cx="3105149" cy="232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84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 – calculate all V and 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9F256-0F9F-4A98-B2D7-24153E6B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9" y="1524000"/>
            <a:ext cx="3105149" cy="232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53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 – calculate all V and 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9F256-0F9F-4A98-B2D7-24153E6B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9" y="1524000"/>
            <a:ext cx="3105149" cy="232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79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 – calculate all V and 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954918-B91D-4EB3-BA11-79E09BDA9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" y="1387813"/>
            <a:ext cx="3511077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30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 – calculate all V and 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954918-B91D-4EB3-BA11-79E09BDA9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" y="1387813"/>
            <a:ext cx="3511077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19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 – calculate all V and 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954918-B91D-4EB3-BA11-79E09BDA9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" y="1387813"/>
            <a:ext cx="3511077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11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 – calculate all V and 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954918-B91D-4EB3-BA11-79E09BDA9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" y="1387813"/>
            <a:ext cx="3511077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712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 – calculate all V and 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</p:spPr>
        <p:txBody>
          <a:bodyPr/>
          <a:lstStyle/>
          <a:p>
            <a:r>
              <a:rPr lang="en-US" sz="1200" dirty="0"/>
              <a:t> Purdue University                                                             ECET 337                                                         Continuous Systems</a:t>
            </a:r>
            <a:endParaRPr lang="en-US" sz="1050" dirty="0">
              <a:latin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954918-B91D-4EB3-BA11-79E09BDA9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" y="1387813"/>
            <a:ext cx="3511077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378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IRS2003  Switch Driver&amp;quot;&quot;/&gt;&lt;property id=&quot;20307&quot; value=&quot;257&quot;/&gt;&lt;/object&gt;&lt;object type=&quot;3&quot; unique_id=&quot;10005&quot;&gt;&lt;property id=&quot;20148&quot; value=&quot;5&quot;/&gt;&lt;property id=&quot;20300&quot; value=&quot;Slide 2 - &amp;quot;LT1160 High (&amp;amp; Low) Side Driver&amp;quot;&quot;/&gt;&lt;property id=&quot;20307&quot; value=&quot;313&quot;/&gt;&lt;/object&gt;&lt;object type=&quot;3&quot; unique_id=&quot;10006&quot;&gt;&lt;property id=&quot;20148&quot; value=&quot;5&quot;/&gt;&lt;property id=&quot;20300&quot; value=&quot;Slide 3 - &amp;quot;LT1160  Bootstrap High-side Drive&amp;quot;&quot;/&gt;&lt;property id=&quot;20307&quot; value=&quot;314&quot;/&gt;&lt;/object&gt;&lt;object type=&quot;3&quot; unique_id=&quot;10010&quot;&gt;&lt;property id=&quot;20148&quot; value=&quot;5&quot;/&gt;&lt;property id=&quot;20300&quot; value=&quot;Slide 4 - &amp;quot;Output Capacitor&amp;quot;&quot;/&gt;&lt;property id=&quot;20307&quot; value=&quot;318&quot;/&gt;&lt;/object&gt;&lt;object type=&quot;3&quot; unique_id=&quot;10011&quot;&gt;&lt;property id=&quot;20148&quot; value=&quot;5&quot;/&gt;&lt;property id=&quot;20300&quot; value=&quot;Slide 5 - &amp;quot;Output Capacitor&amp;quot;&quot;/&gt;&lt;property id=&quot;20307&quot; value=&quot;319&quot;/&gt;&lt;/object&gt;&lt;object type=&quot;3&quot; unique_id=&quot;10014&quot;&gt;&lt;property id=&quot;20148&quot; value=&quot;5&quot;/&gt;&lt;property id=&quot;20300&quot; value=&quot;Slide 6 - &amp;quot;Filter Design&amp;quot;&quot;/&gt;&lt;property id=&quot;20307&quot; value=&quot;320&quot;/&gt;&lt;/object&gt;&lt;object type=&quot;3&quot; unique_id=&quot;10015&quot;&gt;&lt;property id=&quot;20148&quot; value=&quot;5&quot;/&gt;&lt;property id=&quot;20300&quot; value=&quot;Slide 7 - &amp;quot;Class D - Full Bridge&amp;#x0D;&amp;#x0A;110 W,   eff = 91% ,   THD = 7.8%&amp;quot;&quot;/&gt;&lt;property id=&quot;20307&quot; value=&quot;32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sidebarb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idebarb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idebar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debar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c:\msoffice\powerpnt\template\bwovrhd\sidebarb.ppt</Template>
  <TotalTime>915</TotalTime>
  <Pages>57</Pages>
  <Words>420</Words>
  <Application>Microsoft Office PowerPoint</Application>
  <PresentationFormat>On-screen Show (4:3)</PresentationFormat>
  <Paragraphs>86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Monotype Sorts</vt:lpstr>
      <vt:lpstr>Times New Roman</vt:lpstr>
      <vt:lpstr>sidebarb</vt:lpstr>
      <vt:lpstr>Notation and Organization are Everything</vt:lpstr>
      <vt:lpstr>Start as far away from Ein as possible</vt:lpstr>
      <vt:lpstr>Keep combining, drawing, documenting</vt:lpstr>
      <vt:lpstr>Start working back with Ohm’s law, KVL, and KCL</vt:lpstr>
      <vt:lpstr>PowerPoint Presentation</vt:lpstr>
      <vt:lpstr>Notation and Organization are Everything</vt:lpstr>
      <vt:lpstr>Finally, get your calculator out. Go back thru the plan and put the numbers to the right.</vt:lpstr>
      <vt:lpstr>Problem 2 – IZ4</vt:lpstr>
      <vt:lpstr>Problem 2 – IZ4</vt:lpstr>
      <vt:lpstr>Problem 2 – IZ4</vt:lpstr>
      <vt:lpstr>Problem 2 – IZ4</vt:lpstr>
      <vt:lpstr>Problem 2 – IZ4</vt:lpstr>
      <vt:lpstr>Problem 2 – IZ4</vt:lpstr>
      <vt:lpstr>Problem 2 – IZ4</vt:lpstr>
      <vt:lpstr>Problem 2 – IZ4</vt:lpstr>
      <vt:lpstr>Problem 2</vt:lpstr>
      <vt:lpstr>Problem 3 – calculate all V and I</vt:lpstr>
      <vt:lpstr>Problem 3 – calculate all V and I</vt:lpstr>
      <vt:lpstr>Problem 3 – calculate all V and I</vt:lpstr>
      <vt:lpstr>Problem 3 – calculate all V and I</vt:lpstr>
      <vt:lpstr>Problem 4 – calculate all V and I</vt:lpstr>
      <vt:lpstr>Problem 4 – calculate all V and I</vt:lpstr>
      <vt:lpstr>Problem 4 – calculate all V and I</vt:lpstr>
      <vt:lpstr>Problem 4 – calculate all V and I</vt:lpstr>
      <vt:lpstr>Problem 4 – calculate all V and 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Sinusoidal Waveforms</dc:title>
  <dc:creator>Authorized Gateway Customer</dc:creator>
  <cp:lastModifiedBy>James Michael Jacob</cp:lastModifiedBy>
  <cp:revision>187</cp:revision>
  <cp:lastPrinted>2018-12-17T15:23:02Z</cp:lastPrinted>
  <dcterms:created xsi:type="dcterms:W3CDTF">1996-05-14T13:22:24Z</dcterms:created>
  <dcterms:modified xsi:type="dcterms:W3CDTF">2026-01-06T19:02:38Z</dcterms:modified>
</cp:coreProperties>
</file>